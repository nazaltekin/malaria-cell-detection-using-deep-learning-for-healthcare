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PT Sans Narrow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2DF87F-B857-4A55-89DB-FE71A2A9E3C2}">
  <a:tblStyle styleId="{A32DF87F-B857-4A55-89DB-FE71A2A9E3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572B900-7347-4A7F-BC7D-53B19EBA3E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TSansNarrow-bold.fntdata"/><Relationship Id="rId25" Type="http://schemas.openxmlformats.org/officeDocument/2006/relationships/font" Target="fonts/PTSansNarrow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bb4596c8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bb4596c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bb4596c8f_0_2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bb4596c8f_0_2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bb4596c8f_0_2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bb4596c8f_0_2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bb4596c8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bb4596c8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bb4596c8f_0_3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bb4596c8f_0_3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bb4596c8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bb4596c8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bb4596c8f_0_2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bb4596c8f_0_2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bb4596c8f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bb4596c8f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bb4596c8f_0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bb4596c8f_0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bb4596c8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bb4596c8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bb4596c8f_0_2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bb4596c8f_0_2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bb4596c8f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bb4596c8f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bb4596c8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bb4596c8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bb4596c8f_0_3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bb4596c8f_0_3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031f5ac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031f5ac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bb4596c8f_0_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bb4596c8f_0_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031f5ac0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5031f5ac0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75"/>
            <a:ext cx="7136700" cy="14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Learning: Malaria Detection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Capstone Project Presentation</a:t>
            </a:r>
            <a:endParaRPr sz="330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3054872"/>
            <a:ext cx="48705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Naz Altekin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Takeaways/ Executive Summary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09025"/>
            <a:ext cx="8520600" cy="36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/>
              <a:t>Overview of the Problem: </a:t>
            </a:r>
            <a:endParaRPr sz="1200" u="sng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Malaria is a serious global health threat, and early detection is key. Manual diagnosis is slow and error-prone.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Goal: Develop a computer vision model to classify red blood cell images as either Parasitized or Uninfected.</a:t>
            </a:r>
            <a:endParaRPr sz="12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/>
              <a:t>Approach for the Solution</a:t>
            </a:r>
            <a:endParaRPr sz="1200" u="sng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Binary image classification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CNNs used on labeled microscopic images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focus is on recall—to minimize false negatives that could delay treatment</a:t>
            </a:r>
            <a:endParaRPr sz="12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</a:t>
            </a:r>
            <a:r>
              <a:rPr lang="en" sz="1200" u="sng"/>
              <a:t>ey Findings &amp; Insights</a:t>
            </a:r>
            <a:endParaRPr sz="1200" u="sng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best-performing model, CNN Model – Iteration 1 with Augmented images, achieved: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99% recall, precision, and F1-score on both classes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Only 28 misclassifications out of 2,599 test samples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Detection challenges: Subtle visual differences between classes: Varying cell shapes, lighting, and image noise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/>
              <a:t>Conclusion: </a:t>
            </a:r>
            <a:r>
              <a:rPr lang="en" sz="1300"/>
              <a:t>The model is highly suitable for medical imaging, where sensitivity is critical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Problem Statement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Description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Data Preprocessing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Model Results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ANN Model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CNN Base Model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CNN Model - Iteration 1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CNN Model - Iteration 2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Data augmentation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Pretrained Model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Overall Comparison/Key Takeaways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Recommendations and Next steps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Solution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Malaria is a life-threatening disease where traditional diagnosis involves manual inspection. 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This is time-consuming, labor-intensive, and prone to human error. </a:t>
            </a:r>
            <a:endParaRPr sz="12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computer vision model using deep learning techniques for malaria detection can: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Enhance early diagnosis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Improve treatment outcomes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Reduce mortality — especially in regions with limited access to skilled healthcare professionals. </a:t>
            </a:r>
            <a:endParaRPr sz="12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binary image classification problem is proposed where: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Input: An RGB image of a red blood cell </a:t>
            </a:r>
            <a:endParaRPr sz="1200"/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Output: A class label — either Parasitized or Uninfected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Images are used to train and evaluate the models.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Datasets with 4D shape: each image having a size of 32x32 pixels (provide sufficient detail vs computational cost) and 3 color channels (RGB).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˜24.9k images are used for training. (well balanced with parasitized and uninfected cell images)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˜2.6k images are used to evaluate the models.</a:t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600" y="2571750"/>
            <a:ext cx="3181424" cy="224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7"/>
          <p:cNvGrpSpPr/>
          <p:nvPr/>
        </p:nvGrpSpPr>
        <p:grpSpPr>
          <a:xfrm>
            <a:off x="4463925" y="2571750"/>
            <a:ext cx="3733299" cy="2113050"/>
            <a:chOff x="4498250" y="2271375"/>
            <a:chExt cx="3733299" cy="2113050"/>
          </a:xfrm>
        </p:grpSpPr>
        <p:grpSp>
          <p:nvGrpSpPr>
            <p:cNvPr id="94" name="Google Shape;94;p17"/>
            <p:cNvGrpSpPr/>
            <p:nvPr/>
          </p:nvGrpSpPr>
          <p:grpSpPr>
            <a:xfrm>
              <a:off x="4498299" y="2454202"/>
              <a:ext cx="3733250" cy="1930223"/>
              <a:chOff x="4498299" y="2301802"/>
              <a:chExt cx="3733250" cy="1930223"/>
            </a:xfrm>
          </p:grpSpPr>
          <p:pic>
            <p:nvPicPr>
              <p:cNvPr id="95" name="Google Shape;95;p1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98299" y="3310100"/>
                <a:ext cx="3733250" cy="921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" name="Google Shape;96;p1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98299" y="2301802"/>
                <a:ext cx="3733250" cy="9219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7" name="Google Shape;97;p17"/>
            <p:cNvSpPr txBox="1"/>
            <p:nvPr/>
          </p:nvSpPr>
          <p:spPr>
            <a:xfrm>
              <a:off x="4498250" y="2271375"/>
              <a:ext cx="3733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Sample Images</a:t>
              </a:r>
              <a:endParaRPr sz="9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66325"/>
            <a:ext cx="8588700" cy="35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Normalization [0,255] to [0,1]</a:t>
            </a:r>
            <a:endParaRPr sz="1200"/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graphicFrame>
        <p:nvGraphicFramePr>
          <p:cNvPr id="104" name="Google Shape;104;p18"/>
          <p:cNvGraphicFramePr/>
          <p:nvPr/>
        </p:nvGraphicFramePr>
        <p:xfrm>
          <a:off x="578450" y="16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{A32DF87F-B857-4A55-89DB-FE71A2A9E3C2}</a:tableStyleId>
              </a:tblPr>
              <a:tblGrid>
                <a:gridCol w="1226325"/>
                <a:gridCol w="3385750"/>
                <a:gridCol w="3428750"/>
              </a:tblGrid>
              <a:tr h="238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Input Type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63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RGB Images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Easy to implement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Preserves all original visual details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Compatible with pre-trained models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Might include noise or irrelevant color variations.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not highlight subtle patterns 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HSV Images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Can make some patterns easier to detect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confuse pre-trained models expecting RGB input.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conversion step (adds complexity)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Mean Subtraction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Normalizes input, improving model training stability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Helps CNNs converge faster and generalize better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Reduces lighting bias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Needs preprocessing and potentially global dataset stats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Blurred images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Reduces high-frequency noise, helping the model focus on larger patterns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Can help generalize better when textures are irrelevant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Risk of removing important fine details.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reduce overall accuracy if small patterns are critical (e.g., early-stage sickness signs)</a:t>
                      </a:r>
                      <a:endParaRPr sz="100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4125" y="308600"/>
            <a:ext cx="3725151" cy="12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5190525" y="106325"/>
            <a:ext cx="6507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RGB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6431350" y="106325"/>
            <a:ext cx="6507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HSV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7672175" y="106325"/>
            <a:ext cx="6507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Blurred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❌Overfitting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❌False negatives: 512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❌Recall: 65%</a:t>
            </a:r>
            <a:endParaRPr sz="1200"/>
          </a:p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</a:t>
            </a:r>
            <a:r>
              <a:rPr lang="en"/>
              <a:t> </a:t>
            </a:r>
            <a:r>
              <a:rPr lang="en"/>
              <a:t>Model Results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253" y="2351445"/>
            <a:ext cx="2560320" cy="215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3350" y="3002797"/>
            <a:ext cx="2743200" cy="87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275" y="2343167"/>
            <a:ext cx="2743200" cy="21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7079600" y="2663050"/>
            <a:ext cx="65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Metrics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9" name="Google Shape;119;p19"/>
          <p:cNvGrpSpPr/>
          <p:nvPr/>
        </p:nvGrpSpPr>
        <p:grpSpPr>
          <a:xfrm>
            <a:off x="3754050" y="2159850"/>
            <a:ext cx="1647700" cy="1880175"/>
            <a:chOff x="5903300" y="451275"/>
            <a:chExt cx="1647700" cy="1880175"/>
          </a:xfrm>
        </p:grpSpPr>
        <p:sp>
          <p:nvSpPr>
            <p:cNvPr id="120" name="Google Shape;120;p19"/>
            <p:cNvSpPr txBox="1"/>
            <p:nvPr/>
          </p:nvSpPr>
          <p:spPr>
            <a:xfrm>
              <a:off x="6900300" y="1019063"/>
              <a:ext cx="6093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387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1" name="Google Shape;121;p19"/>
            <p:cNvSpPr txBox="1"/>
            <p:nvPr/>
          </p:nvSpPr>
          <p:spPr>
            <a:xfrm>
              <a:off x="5918400" y="1869750"/>
              <a:ext cx="738900" cy="461700"/>
            </a:xfrm>
            <a:prstGeom prst="rect">
              <a:avLst/>
            </a:prstGeom>
            <a:solidFill>
              <a:srgbClr val="5B1D5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512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19"/>
            <p:cNvSpPr txBox="1"/>
            <p:nvPr/>
          </p:nvSpPr>
          <p:spPr>
            <a:xfrm>
              <a:off x="6900300" y="1869750"/>
              <a:ext cx="650700" cy="461700"/>
            </a:xfrm>
            <a:prstGeom prst="rect">
              <a:avLst/>
            </a:prstGeom>
            <a:solidFill>
              <a:srgbClr val="F58D6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788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123;p19"/>
            <p:cNvSpPr txBox="1"/>
            <p:nvPr/>
          </p:nvSpPr>
          <p:spPr>
            <a:xfrm>
              <a:off x="5918400" y="1019063"/>
              <a:ext cx="6384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912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5903300" y="451275"/>
              <a:ext cx="14970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Confusion Matrix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5" name="Google Shape;125;p19"/>
          <p:cNvSpPr txBox="1"/>
          <p:nvPr/>
        </p:nvSpPr>
        <p:spPr>
          <a:xfrm>
            <a:off x="1131675" y="2159850"/>
            <a:ext cx="1843500" cy="3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Model Recall over Epochs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Fast initial learning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❌Overfitting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✅False Negatives: 44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✅Recall: 97%.</a:t>
            </a:r>
            <a:endParaRPr sz="1200"/>
          </a:p>
        </p:txBody>
      </p:sp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Base Model Results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650" y="2961694"/>
            <a:ext cx="2651761" cy="835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75" y="2294493"/>
            <a:ext cx="2743200" cy="2169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20"/>
          <p:cNvGrpSpPr/>
          <p:nvPr/>
        </p:nvGrpSpPr>
        <p:grpSpPr>
          <a:xfrm>
            <a:off x="3371902" y="2120925"/>
            <a:ext cx="2560320" cy="2320955"/>
            <a:chOff x="3371902" y="2044725"/>
            <a:chExt cx="2560320" cy="2320955"/>
          </a:xfrm>
        </p:grpSpPr>
        <p:pic>
          <p:nvPicPr>
            <p:cNvPr id="135" name="Google Shape;13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71902" y="2240614"/>
              <a:ext cx="2560320" cy="21250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0"/>
            <p:cNvSpPr txBox="1"/>
            <p:nvPr/>
          </p:nvSpPr>
          <p:spPr>
            <a:xfrm>
              <a:off x="4815775" y="2570625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46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7" name="Google Shape;137;p20"/>
            <p:cNvSpPr txBox="1"/>
            <p:nvPr/>
          </p:nvSpPr>
          <p:spPr>
            <a:xfrm>
              <a:off x="3893750" y="3416450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44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8" name="Google Shape;138;p20"/>
            <p:cNvSpPr txBox="1"/>
            <p:nvPr/>
          </p:nvSpPr>
          <p:spPr>
            <a:xfrm>
              <a:off x="4686250" y="3416450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1256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20"/>
            <p:cNvSpPr txBox="1"/>
            <p:nvPr/>
          </p:nvSpPr>
          <p:spPr>
            <a:xfrm>
              <a:off x="3718850" y="2570625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1253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0" name="Google Shape;140;p20"/>
            <p:cNvSpPr txBox="1"/>
            <p:nvPr/>
          </p:nvSpPr>
          <p:spPr>
            <a:xfrm>
              <a:off x="3819438" y="2044725"/>
              <a:ext cx="14880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Confusion Matrix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1" name="Google Shape;141;p20"/>
          <p:cNvSpPr txBox="1"/>
          <p:nvPr/>
        </p:nvSpPr>
        <p:spPr>
          <a:xfrm>
            <a:off x="7079600" y="2663050"/>
            <a:ext cx="65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Metrics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1139675" y="2120925"/>
            <a:ext cx="1843500" cy="3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Model Recall over Epochs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4294967295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Fast initial learning and matches well after 3 epochs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✅False Negatives: 14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✅Recall: 99%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✅Balanced classifier — it’s not favoring one class over another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✅Great for medical imaging use cases, where recall (sensitivity) is critical</a:t>
            </a:r>
            <a:endParaRPr sz="1200"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Model Iteration 1 Results</a:t>
            </a:r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2771" y="2811781"/>
            <a:ext cx="2560320" cy="212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87" y="2806994"/>
            <a:ext cx="2743200" cy="213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6275" y="3456661"/>
            <a:ext cx="2651759" cy="835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1"/>
          <p:cNvGrpSpPr/>
          <p:nvPr/>
        </p:nvGrpSpPr>
        <p:grpSpPr>
          <a:xfrm>
            <a:off x="1099675" y="2617350"/>
            <a:ext cx="6567825" cy="1833425"/>
            <a:chOff x="1099675" y="2617350"/>
            <a:chExt cx="6567825" cy="1833425"/>
          </a:xfrm>
        </p:grpSpPr>
        <p:sp>
          <p:nvSpPr>
            <p:cNvPr id="153" name="Google Shape;153;p21"/>
            <p:cNvSpPr txBox="1"/>
            <p:nvPr/>
          </p:nvSpPr>
          <p:spPr>
            <a:xfrm>
              <a:off x="4754875" y="3143250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16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3832850" y="3989075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14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4625350" y="3989075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1286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6" name="Google Shape;156;p21"/>
            <p:cNvSpPr txBox="1"/>
            <p:nvPr/>
          </p:nvSpPr>
          <p:spPr>
            <a:xfrm>
              <a:off x="3657950" y="3143250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1283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3758538" y="2617350"/>
              <a:ext cx="14880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Confusion Matrix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7016800" y="3079275"/>
              <a:ext cx="65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Metrics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9" name="Google Shape;159;p21"/>
            <p:cNvSpPr txBox="1"/>
            <p:nvPr/>
          </p:nvSpPr>
          <p:spPr>
            <a:xfrm>
              <a:off x="1099675" y="2627100"/>
              <a:ext cx="1843500" cy="3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Model Recall over Epochs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idx="4294967295" type="body"/>
          </p:nvPr>
        </p:nvSpPr>
        <p:spPr>
          <a:xfrm>
            <a:off x="311700" y="1152475"/>
            <a:ext cx="8229600" cy="3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✅False Negatives: 18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✅Recall: 99%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</a:t>
            </a:r>
            <a:r>
              <a:rPr lang="en" sz="1200"/>
              <a:t>he only difference with Iteration 1 is the batch normalization!</a:t>
            </a:r>
            <a:endParaRPr sz="1200"/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Models </a:t>
            </a:r>
            <a:r>
              <a:rPr lang="en"/>
              <a:t>Iteration 2 Results</a:t>
            </a:r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600" y="2928909"/>
            <a:ext cx="2651760" cy="82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215" y="2277399"/>
            <a:ext cx="2560320" cy="212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50" y="2253094"/>
            <a:ext cx="2743200" cy="21736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22"/>
          <p:cNvGrpSpPr/>
          <p:nvPr/>
        </p:nvGrpSpPr>
        <p:grpSpPr>
          <a:xfrm>
            <a:off x="991450" y="2083950"/>
            <a:ext cx="6896000" cy="1833425"/>
            <a:chOff x="1067650" y="2617350"/>
            <a:chExt cx="6896000" cy="1833425"/>
          </a:xfrm>
        </p:grpSpPr>
        <p:sp>
          <p:nvSpPr>
            <p:cNvPr id="170" name="Google Shape;170;p22"/>
            <p:cNvSpPr txBox="1"/>
            <p:nvPr/>
          </p:nvSpPr>
          <p:spPr>
            <a:xfrm>
              <a:off x="4754875" y="3143250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17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1" name="Google Shape;171;p22"/>
            <p:cNvSpPr txBox="1"/>
            <p:nvPr/>
          </p:nvSpPr>
          <p:spPr>
            <a:xfrm>
              <a:off x="3909050" y="3989075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18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4625350" y="3989075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1282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3" name="Google Shape;173;p22"/>
            <p:cNvSpPr txBox="1"/>
            <p:nvPr/>
          </p:nvSpPr>
          <p:spPr>
            <a:xfrm>
              <a:off x="3734150" y="3143250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1282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4" name="Google Shape;174;p22"/>
            <p:cNvSpPr txBox="1"/>
            <p:nvPr/>
          </p:nvSpPr>
          <p:spPr>
            <a:xfrm>
              <a:off x="3758538" y="2617350"/>
              <a:ext cx="14880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Confusion Matrix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5" name="Google Shape;175;p22"/>
            <p:cNvSpPr txBox="1"/>
            <p:nvPr/>
          </p:nvSpPr>
          <p:spPr>
            <a:xfrm>
              <a:off x="7312950" y="3105150"/>
              <a:ext cx="65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Metrics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6" name="Google Shape;176;p22"/>
            <p:cNvSpPr txBox="1"/>
            <p:nvPr/>
          </p:nvSpPr>
          <p:spPr>
            <a:xfrm>
              <a:off x="1067650" y="2617350"/>
              <a:ext cx="1843500" cy="3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Model Recall over Epochs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Augmentation</a:t>
            </a:r>
            <a:endParaRPr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950" y="1128000"/>
            <a:ext cx="2016525" cy="32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 rotWithShape="1">
          <a:blip r:embed="rId4">
            <a:alphaModFix/>
          </a:blip>
          <a:srcRect b="0" l="51660" r="0" t="0"/>
          <a:stretch/>
        </p:blipFill>
        <p:spPr>
          <a:xfrm>
            <a:off x="4644613" y="1342800"/>
            <a:ext cx="964550" cy="30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4294967295" type="body"/>
          </p:nvPr>
        </p:nvSpPr>
        <p:spPr>
          <a:xfrm>
            <a:off x="311700" y="1152475"/>
            <a:ext cx="373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Strengthens input images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Increases data set size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Parameters: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rescale=1./255,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rotation_range=15,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width_shift_range=0.1,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height_shift_range=0.1,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shear_range=0.1,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zoom_range=0.1,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horizontal_flip=True,</a:t>
            </a:r>
            <a:endParaRPr sz="1200"/>
          </a:p>
          <a:p>
            <a:pPr indent="-3048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fill_mode='nearest'</a:t>
            </a:r>
            <a:endParaRPr sz="1200"/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85" name="Google Shape;185;p23"/>
          <p:cNvSpPr txBox="1"/>
          <p:nvPr/>
        </p:nvSpPr>
        <p:spPr>
          <a:xfrm>
            <a:off x="4421200" y="978425"/>
            <a:ext cx="155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Original Images</a:t>
            </a:r>
            <a:endParaRPr sz="1300" u="sng">
              <a:solidFill>
                <a:schemeClr val="dk2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6600115" y="978425"/>
            <a:ext cx="178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Augmented</a:t>
            </a:r>
            <a:r>
              <a:rPr lang="en" sz="1300" u="sng">
                <a:solidFill>
                  <a:schemeClr val="dk2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Images</a:t>
            </a:r>
            <a:endParaRPr sz="1300" u="sng">
              <a:solidFill>
                <a:schemeClr val="dk2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idx="4294967295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CNN Model - Iteration 1 is used with the augmented data.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✅Recall remains 99%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✅False Negatives: 11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lang="en" sz="1200">
                <a:highlight>
                  <a:schemeClr val="lt1"/>
                </a:highlight>
              </a:rPr>
              <a:t>Additional preprocessing steps </a:t>
            </a:r>
            <a:endParaRPr sz="1200">
              <a:highlight>
                <a:schemeClr val="lt1"/>
              </a:highlight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lang="en" sz="1200">
                <a:highlight>
                  <a:schemeClr val="lt1"/>
                </a:highlight>
              </a:rPr>
              <a:t>Longer training time</a:t>
            </a:r>
            <a:endParaRPr sz="1200"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5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2" name="Google Shape;192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Fitting with Augmented Data</a:t>
            </a:r>
            <a:endParaRPr/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162" y="3224064"/>
            <a:ext cx="2651760" cy="835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00" y="2568820"/>
            <a:ext cx="2743200" cy="2145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171" y="2579183"/>
            <a:ext cx="2560320" cy="2125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4"/>
          <p:cNvGrpSpPr/>
          <p:nvPr/>
        </p:nvGrpSpPr>
        <p:grpSpPr>
          <a:xfrm>
            <a:off x="1067650" y="2388750"/>
            <a:ext cx="6896000" cy="1833425"/>
            <a:chOff x="1067650" y="2617350"/>
            <a:chExt cx="6896000" cy="1833425"/>
          </a:xfrm>
        </p:grpSpPr>
        <p:sp>
          <p:nvSpPr>
            <p:cNvPr id="197" name="Google Shape;197;p24"/>
            <p:cNvSpPr txBox="1"/>
            <p:nvPr/>
          </p:nvSpPr>
          <p:spPr>
            <a:xfrm>
              <a:off x="4754875" y="3143250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17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8" name="Google Shape;198;p24"/>
            <p:cNvSpPr txBox="1"/>
            <p:nvPr/>
          </p:nvSpPr>
          <p:spPr>
            <a:xfrm>
              <a:off x="3909050" y="3989075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11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9" name="Google Shape;199;p24"/>
            <p:cNvSpPr txBox="1"/>
            <p:nvPr/>
          </p:nvSpPr>
          <p:spPr>
            <a:xfrm>
              <a:off x="4625350" y="3989075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1289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0" name="Google Shape;200;p24"/>
            <p:cNvSpPr txBox="1"/>
            <p:nvPr/>
          </p:nvSpPr>
          <p:spPr>
            <a:xfrm>
              <a:off x="3734150" y="3143250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1282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1" name="Google Shape;201;p24"/>
            <p:cNvSpPr txBox="1"/>
            <p:nvPr/>
          </p:nvSpPr>
          <p:spPr>
            <a:xfrm>
              <a:off x="3758538" y="2617350"/>
              <a:ext cx="14880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Confusion Matrix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2" name="Google Shape;202;p24"/>
            <p:cNvSpPr txBox="1"/>
            <p:nvPr/>
          </p:nvSpPr>
          <p:spPr>
            <a:xfrm>
              <a:off x="7312950" y="3105150"/>
              <a:ext cx="65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Metrics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3" name="Google Shape;203;p24"/>
            <p:cNvSpPr txBox="1"/>
            <p:nvPr/>
          </p:nvSpPr>
          <p:spPr>
            <a:xfrm>
              <a:off x="1067650" y="2617350"/>
              <a:ext cx="1843500" cy="3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Model Recall over Epochs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4294967295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lang="en" sz="1200">
                <a:solidFill>
                  <a:srgbClr val="383838"/>
                </a:solidFill>
              </a:rPr>
              <a:t>Overfitting</a:t>
            </a:r>
            <a:endParaRPr sz="1200">
              <a:solidFill>
                <a:srgbClr val="38383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lang="en" sz="1200">
                <a:solidFill>
                  <a:srgbClr val="383838"/>
                </a:solidFill>
              </a:rPr>
              <a:t>False negatives are 75</a:t>
            </a:r>
            <a:endParaRPr sz="1200">
              <a:solidFill>
                <a:srgbClr val="38383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lang="en" sz="1200">
                <a:solidFill>
                  <a:srgbClr val="383838"/>
                </a:solidFill>
              </a:rPr>
              <a:t>Recall is 94%</a:t>
            </a:r>
            <a:endParaRPr sz="1200">
              <a:solidFill>
                <a:srgbClr val="383838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Char char="●"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lang="en" sz="1200">
                <a:solidFill>
                  <a:srgbClr val="383838"/>
                </a:solidFill>
              </a:rPr>
              <a:t>Longer training time</a:t>
            </a:r>
            <a:endParaRPr sz="1200">
              <a:solidFill>
                <a:srgbClr val="383838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83838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000">
              <a:highlight>
                <a:schemeClr val="accent6"/>
              </a:highlight>
            </a:endParaRPr>
          </a:p>
        </p:txBody>
      </p:sp>
      <p:sp>
        <p:nvSpPr>
          <p:cNvPr id="209" name="Google Shape;209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Pretrained model</a:t>
            </a:r>
            <a:r>
              <a:rPr lang="en"/>
              <a:t> (VGG16)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690" y="2462206"/>
            <a:ext cx="2560320" cy="2125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4550" y="3113716"/>
            <a:ext cx="2651760" cy="82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50" y="2441175"/>
            <a:ext cx="2743200" cy="21671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5"/>
          <p:cNvGrpSpPr/>
          <p:nvPr/>
        </p:nvGrpSpPr>
        <p:grpSpPr>
          <a:xfrm>
            <a:off x="959750" y="2276675"/>
            <a:ext cx="6896000" cy="1833425"/>
            <a:chOff x="1067650" y="2617350"/>
            <a:chExt cx="6896000" cy="1833425"/>
          </a:xfrm>
        </p:grpSpPr>
        <p:sp>
          <p:nvSpPr>
            <p:cNvPr id="214" name="Google Shape;214;p25"/>
            <p:cNvSpPr txBox="1"/>
            <p:nvPr/>
          </p:nvSpPr>
          <p:spPr>
            <a:xfrm>
              <a:off x="4718325" y="3143250"/>
              <a:ext cx="6006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147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5" name="Google Shape;215;p25"/>
            <p:cNvSpPr txBox="1"/>
            <p:nvPr/>
          </p:nvSpPr>
          <p:spPr>
            <a:xfrm>
              <a:off x="3909050" y="3989075"/>
              <a:ext cx="564000" cy="4617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75</a:t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4625350" y="3989075"/>
              <a:ext cx="738900" cy="461700"/>
            </a:xfrm>
            <a:prstGeom prst="rect">
              <a:avLst/>
            </a:prstGeom>
            <a:solidFill>
              <a:srgbClr val="F9ECD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1225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25"/>
            <p:cNvSpPr txBox="1"/>
            <p:nvPr/>
          </p:nvSpPr>
          <p:spPr>
            <a:xfrm>
              <a:off x="3734150" y="3143250"/>
              <a:ext cx="738900" cy="461700"/>
            </a:xfrm>
            <a:prstGeom prst="rect">
              <a:avLst/>
            </a:prstGeom>
            <a:solidFill>
              <a:srgbClr val="F8D3B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Open Sans"/>
                  <a:ea typeface="Open Sans"/>
                  <a:cs typeface="Open Sans"/>
                  <a:sym typeface="Open Sans"/>
                </a:rPr>
                <a:t>1152</a:t>
              </a:r>
              <a:endParaRPr sz="18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25"/>
            <p:cNvSpPr txBox="1"/>
            <p:nvPr/>
          </p:nvSpPr>
          <p:spPr>
            <a:xfrm>
              <a:off x="3758538" y="2617350"/>
              <a:ext cx="14880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Confusion Matrix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25"/>
            <p:cNvSpPr txBox="1"/>
            <p:nvPr/>
          </p:nvSpPr>
          <p:spPr>
            <a:xfrm>
              <a:off x="7312950" y="3105150"/>
              <a:ext cx="65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Metrics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25"/>
            <p:cNvSpPr txBox="1"/>
            <p:nvPr/>
          </p:nvSpPr>
          <p:spPr>
            <a:xfrm>
              <a:off x="1067650" y="2617350"/>
              <a:ext cx="1843500" cy="3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Open Sans"/>
                  <a:ea typeface="Open Sans"/>
                  <a:cs typeface="Open Sans"/>
                  <a:sym typeface="Open Sans"/>
                </a:rPr>
                <a:t>Model Recall over Epochs</a:t>
              </a:r>
              <a:endParaRPr sz="10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idx="4294967295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Best model is CNN Model - Iteration 1 with augmented images:</a:t>
            </a:r>
            <a:endParaRPr sz="1200"/>
          </a:p>
          <a:p>
            <a:pPr indent="0" lvl="0" marL="0" rtl="0" algn="l">
              <a:spcBef>
                <a:spcPts val="1100"/>
              </a:spcBef>
              <a:spcAft>
                <a:spcPts val="500"/>
              </a:spcAft>
              <a:buNone/>
            </a:pPr>
            <a:r>
              <a:t/>
            </a:r>
            <a:endParaRPr sz="1000">
              <a:highlight>
                <a:schemeClr val="accent6"/>
              </a:highlight>
            </a:endParaRPr>
          </a:p>
        </p:txBody>
      </p:sp>
      <p:sp>
        <p:nvSpPr>
          <p:cNvPr id="226" name="Google Shape;226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Comparison/</a:t>
            </a:r>
            <a:r>
              <a:rPr lang="en"/>
              <a:t>Key Takeaways</a:t>
            </a:r>
            <a:endParaRPr/>
          </a:p>
        </p:txBody>
      </p:sp>
      <p:graphicFrame>
        <p:nvGraphicFramePr>
          <p:cNvPr id="227" name="Google Shape;227;p26"/>
          <p:cNvGraphicFramePr/>
          <p:nvPr/>
        </p:nvGraphicFramePr>
        <p:xfrm>
          <a:off x="952500" y="151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{1572B900-7347-4A7F-BC7D-53B19EBA3E70}</a:tableStyleId>
              </a:tblPr>
              <a:tblGrid>
                <a:gridCol w="1212025"/>
                <a:gridCol w="1683575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Model name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Preprocessing steps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Training time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Recall 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666666"/>
                          </a:solidFill>
                        </a:rPr>
                        <a:t>False Negatives</a:t>
                      </a:r>
                      <a:endParaRPr b="1"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ANN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65% 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512 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CNN - base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97% 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44 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CNN - 1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99% </a:t>
                      </a: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14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CNN - 2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1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99% </a:t>
                      </a: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18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Augmented images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99% </a:t>
                      </a: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11</a:t>
                      </a:r>
                      <a:r>
                        <a:rPr lang="en" sz="1200">
                          <a:solidFill>
                            <a:srgbClr val="6666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Pretrained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94% 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666666"/>
                          </a:solidFill>
                        </a:rPr>
                        <a:t>75 ❌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6"/>
          <p:cNvSpPr/>
          <p:nvPr/>
        </p:nvSpPr>
        <p:spPr>
          <a:xfrm>
            <a:off x="600325" y="3505850"/>
            <a:ext cx="320100" cy="3201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00C30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Recommendations and Next steps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1750525" y="2814600"/>
            <a:ext cx="3000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/>
        </p:nvSpPr>
        <p:spPr>
          <a:xfrm>
            <a:off x="5764775" y="3960175"/>
            <a:ext cx="3000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 txBox="1"/>
          <p:nvPr>
            <p:ph idx="4294967295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model is at 99% recall, however it still missed classify correctly 11 sick cells out of 2.5k.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Hyperparameter Tuning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Model Architecture Enhancements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Regularization and Normalization Techniques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Training Procedures &amp; Callbacks</a:t>
            </a:r>
            <a:endParaRPr sz="1200"/>
          </a:p>
          <a:p>
            <a:pPr indent="0" lvl="0" marL="9144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blood cell check is advised to be supported with blood count, antigen tests or other supporting tests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200"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</a:t>
            </a:r>
            <a:endParaRPr/>
          </a:p>
        </p:txBody>
      </p:sp>
      <p:sp>
        <p:nvSpPr>
          <p:cNvPr id="247" name="Google Shape;247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/>
              <a:t>All models are run with:</a:t>
            </a:r>
            <a:endParaRPr sz="1200"/>
          </a:p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Output layer: with activation softmax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Compiling: Adam optimizer, categorical </a:t>
            </a:r>
            <a:r>
              <a:rPr lang="en" sz="1200"/>
              <a:t>cross entropy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Metrics: accuracy, precision, recall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Fit with a validation split of 0.2, batch size = 32,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/>
              <a:t>verbose =1, and epochs = 20, (with callbacks)</a:t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Recommendations and Next steps</a:t>
            </a:r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1750525" y="2814600"/>
            <a:ext cx="3000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"/>
          <p:cNvSpPr txBox="1"/>
          <p:nvPr/>
        </p:nvSpPr>
        <p:spPr>
          <a:xfrm>
            <a:off x="5764775" y="3960175"/>
            <a:ext cx="30000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"/>
          <p:cNvSpPr txBox="1"/>
          <p:nvPr>
            <p:ph idx="4294967295" type="body"/>
          </p:nvPr>
        </p:nvSpPr>
        <p:spPr>
          <a:xfrm>
            <a:off x="311700" y="1152475"/>
            <a:ext cx="83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model is at 99% recall, however it still missed classify correctly 14 sick cells out of 2.5k.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Hyperparameter Tuning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Learning Rate &amp; Optimizer Adjustments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Batch Size: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Model Architecture Enhancements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Increase Depth or Capacity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Dense Layers 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Regularization and Normalization Techniques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Dropout Tuning: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Training Procedures &amp; Callbacks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Extend Training Epochs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Learning Rate Scheduling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blood cell check is advised to be supported with blood count, antigen tests or other supporting tests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200"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